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Roboto Medium"/>
      <p:regular r:id="rId16"/>
      <p:bold r:id="rId17"/>
      <p:italic r:id="rId18"/>
      <p:boldItalic r:id="rId19"/>
    </p:embeddedFont>
    <p:embeddedFont>
      <p:font typeface="Garamond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Roboto-regular.fntdata"/><Relationship Id="rId13" Type="http://schemas.openxmlformats.org/officeDocument/2006/relationships/font" Target="fonts/Roboto-bold.fntdata"/><Relationship Id="rId14" Type="http://schemas.openxmlformats.org/officeDocument/2006/relationships/font" Target="fonts/Roboto-italic.fntdata"/><Relationship Id="rId15" Type="http://schemas.openxmlformats.org/officeDocument/2006/relationships/font" Target="fonts/Roboto-boldItalic.fntdata"/><Relationship Id="rId16" Type="http://schemas.openxmlformats.org/officeDocument/2006/relationships/font" Target="fonts/RobotoMedium-regular.fntdata"/><Relationship Id="rId17" Type="http://schemas.openxmlformats.org/officeDocument/2006/relationships/font" Target="fonts/RobotoMedium-bold.fntdata"/><Relationship Id="rId18" Type="http://schemas.openxmlformats.org/officeDocument/2006/relationships/font" Target="fonts/RobotoMedium-italic.fntdata"/><Relationship Id="rId19" Type="http://schemas.openxmlformats.org/officeDocument/2006/relationships/font" Target="fonts/RobotoMedium-boldItalic.fntdata"/><Relationship Id="rId20" Type="http://schemas.openxmlformats.org/officeDocument/2006/relationships/font" Target="fonts/Garamond-regular.fntdata"/><Relationship Id="rId21" Type="http://schemas.openxmlformats.org/officeDocument/2006/relationships/font" Target="fonts/Garamond-bold.fntdata"/><Relationship Id="rId22" Type="http://schemas.openxmlformats.org/officeDocument/2006/relationships/font" Target="fonts/Garamond-italic.fntdata"/><Relationship Id="rId23" Type="http://schemas.openxmlformats.org/officeDocument/2006/relationships/font" Target="fonts/Garamond-boldItalic.fntdata"/><Relationship Id="rId24" Type="http://schemas.openxmlformats.org/officeDocument/2006/relationships/font" Target="fonts/Oswald-regular.fntdata"/><Relationship Id="rId25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86" name="Google Shape;2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2036425" y="0"/>
            <a:ext cx="8631600" cy="678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44225" y="2796275"/>
            <a:ext cx="59247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32D37"/>
                </a:solidFill>
                <a:latin typeface="Roboto"/>
                <a:ea typeface="Roboto"/>
                <a:cs typeface="Roboto"/>
                <a:sym typeface="Roboto"/>
              </a:rPr>
              <a:t>Problem Statement ID:</a:t>
            </a:r>
            <a:r>
              <a:rPr i="0" lang="en-US" sz="1700" u="none" cap="none" strike="noStrike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  <a:t> SIH26188</a:t>
            </a:r>
            <a:br>
              <a:rPr i="0" lang="en-US" sz="1700" u="none" cap="none" strike="noStrike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endParaRPr sz="19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32D37"/>
                </a:solidFill>
                <a:latin typeface="Roboto"/>
                <a:ea typeface="Roboto"/>
                <a:cs typeface="Roboto"/>
                <a:sym typeface="Roboto"/>
              </a:rPr>
              <a:t>Problem Statement Title:</a:t>
            </a:r>
            <a: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  <a:t> AI-Based Fake Identity &amp; Document Screening System</a:t>
            </a:r>
            <a:endParaRPr sz="19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1" lang="en-US" sz="1700">
                <a:solidFill>
                  <a:srgbClr val="232D37"/>
                </a:solidFill>
                <a:latin typeface="Roboto"/>
                <a:ea typeface="Roboto"/>
                <a:cs typeface="Roboto"/>
                <a:sym typeface="Roboto"/>
              </a:rPr>
              <a:t>Theme:</a:t>
            </a:r>
            <a: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  <a:t>Blockchain &amp; Cybersecurity </a:t>
            </a:r>
            <a:endParaRPr sz="19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</a:br>
            <a:r>
              <a:rPr b="1" lang="en-US" sz="1700">
                <a:solidFill>
                  <a:srgbClr val="232D37"/>
                </a:solidFill>
                <a:latin typeface="Roboto"/>
                <a:ea typeface="Roboto"/>
                <a:cs typeface="Roboto"/>
                <a:sym typeface="Roboto"/>
              </a:rPr>
              <a:t>PS Category:</a:t>
            </a:r>
            <a: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  <a:t> Software </a:t>
            </a:r>
            <a:endParaRPr sz="1700">
              <a:solidFill>
                <a:srgbClr val="232D37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32D37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32D37"/>
                </a:solidFill>
                <a:latin typeface="Roboto"/>
                <a:ea typeface="Roboto"/>
                <a:cs typeface="Roboto"/>
                <a:sym typeface="Roboto"/>
              </a:rPr>
              <a:t>Team Name: </a:t>
            </a:r>
            <a:r>
              <a:rPr lang="en-US" sz="1700">
                <a:solidFill>
                  <a:srgbClr val="232D37"/>
                </a:solidFill>
                <a:latin typeface="Roboto Medium"/>
                <a:ea typeface="Roboto Medium"/>
                <a:cs typeface="Roboto Medium"/>
                <a:sym typeface="Roboto Medium"/>
              </a:rPr>
              <a:t>Ctrl S</a:t>
            </a:r>
            <a:endParaRPr sz="19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>
            <p:ph type="title"/>
          </p:nvPr>
        </p:nvSpPr>
        <p:spPr>
          <a:xfrm>
            <a:off x="183000" y="498775"/>
            <a:ext cx="109728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SENTINELAI — AI-BASED FAKE IDENTITY &amp; DOCUMENT SCREENING</a:t>
            </a:r>
            <a:endParaRPr sz="4100"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4" name="Google Shape;104;p1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62980" y="1393484"/>
            <a:ext cx="1083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ONE SCREENING PIPELINE → </a:t>
            </a:r>
            <a:r>
              <a:rPr lang="en-US" sz="1700">
                <a:solidFill>
                  <a:srgbClr val="232D37"/>
                </a:solidFill>
              </a:rPr>
              <a:t>A</a:t>
            </a:r>
            <a:r>
              <a:rPr b="0" lang="en-US" sz="170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uthenticity + </a:t>
            </a:r>
            <a:r>
              <a:rPr lang="en-US" sz="1700">
                <a:solidFill>
                  <a:srgbClr val="232D37"/>
                </a:solidFill>
              </a:rPr>
              <a:t>I</a:t>
            </a:r>
            <a:r>
              <a:rPr b="0" lang="en-US" sz="170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dentity + </a:t>
            </a:r>
            <a:r>
              <a:rPr lang="en-US" sz="1700">
                <a:solidFill>
                  <a:srgbClr val="232D37"/>
                </a:solidFill>
              </a:rPr>
              <a:t>A</a:t>
            </a:r>
            <a:r>
              <a:rPr b="0" lang="en-US" sz="170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uditability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0075" y="1737999"/>
            <a:ext cx="108357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9">
                <a:solidFill>
                  <a:srgbClr val="55626E"/>
                </a:solidFill>
              </a:rPr>
              <a:t>Edge-first screening for passports, visas, Aadhaar and permits. Decision-support for officers with explainable AI, zero-trust cybersecurity, and a blockchain-backed audit trail.</a:t>
            </a:r>
            <a:endParaRPr sz="1019">
              <a:solidFill>
                <a:srgbClr val="5562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55626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9">
              <a:solidFill>
                <a:srgbClr val="55626E"/>
              </a:solidFill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40080" y="2304288"/>
            <a:ext cx="1993392" cy="17190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40080" y="2304288"/>
            <a:ext cx="64008" cy="1719072"/>
          </a:xfrm>
          <a:prstGeom prst="rect">
            <a:avLst/>
          </a:prstGeom>
          <a:solidFill>
            <a:srgbClr val="244E8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86384" y="2395728"/>
            <a:ext cx="310896" cy="274320"/>
          </a:xfrm>
          <a:prstGeom prst="roundRect">
            <a:avLst>
              <a:gd fmla="val 16667" name="adj"/>
            </a:avLst>
          </a:prstGeom>
          <a:solidFill>
            <a:srgbClr val="244E84"/>
          </a:solidFill>
          <a:ln cap="flat" cmpd="sng" w="12700">
            <a:solidFill>
              <a:srgbClr val="244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170431" y="2395728"/>
            <a:ext cx="133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44E84"/>
                </a:solidFill>
              </a:rPr>
              <a:t>CRYPTOGRAPHY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86375" y="2779775"/>
            <a:ext cx="1847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MRZ check digits</a:t>
            </a:r>
            <a:endParaRPr sz="159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956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590"/>
              <a:buFont typeface="Calibri"/>
              <a:buChar char="●"/>
            </a:pPr>
            <a:r>
              <a:rPr lang="en-US" sz="159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signed QR </a:t>
            </a:r>
            <a:r>
              <a:rPr lang="en-US" sz="159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validation consistency</a:t>
            </a:r>
            <a:r>
              <a:rPr lang="en-US" sz="159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 rules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2862072" y="2304288"/>
            <a:ext cx="1993392" cy="17190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2862072" y="2304288"/>
            <a:ext cx="64008" cy="1719072"/>
          </a:xfrm>
          <a:prstGeom prst="rect">
            <a:avLst/>
          </a:prstGeom>
          <a:solidFill>
            <a:srgbClr val="146FB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3008376" y="2395728"/>
            <a:ext cx="310896" cy="274320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392424" y="2395728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OCR + SCHEMA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008375" y="2779775"/>
            <a:ext cx="19935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Paddle OCR</a:t>
            </a:r>
            <a:r>
              <a:rPr lang="en-US" sz="15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 v4 </a:t>
            </a:r>
            <a:endParaRPr sz="155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550"/>
              <a:buFont typeface="Calibri"/>
              <a:buChar char="●"/>
            </a:pPr>
            <a:r>
              <a:rPr lang="en-US" sz="15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Field extraction</a:t>
            </a:r>
            <a:endParaRPr sz="155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0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550"/>
              <a:buFont typeface="Calibri"/>
              <a:buChar char="●"/>
            </a:pPr>
            <a:r>
              <a:rPr lang="en-US" sz="15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Cross-field anomaly checks</a:t>
            </a:r>
            <a:endParaRPr sz="15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5084064" y="2307863"/>
            <a:ext cx="1993500" cy="171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084064" y="2304288"/>
            <a:ext cx="64008" cy="1719072"/>
          </a:xfrm>
          <a:prstGeom prst="rect">
            <a:avLst/>
          </a:prstGeom>
          <a:solidFill>
            <a:srgbClr val="F2882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230368" y="2395728"/>
            <a:ext cx="310896" cy="274320"/>
          </a:xfrm>
          <a:prstGeom prst="roundRect">
            <a:avLst>
              <a:gd fmla="val 16667" name="adj"/>
            </a:avLst>
          </a:prstGeom>
          <a:solidFill>
            <a:srgbClr val="F28821"/>
          </a:solidFill>
          <a:ln cap="flat" cmpd="sng" w="12700">
            <a:solidFill>
              <a:srgbClr val="F2882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5614416" y="2395728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DOCUMENT FORENSICS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230314" y="2946100"/>
            <a:ext cx="19935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ELA / frequency cues</a:t>
            </a:r>
            <a:endParaRPr sz="155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Tampered-text detection</a:t>
            </a:r>
            <a:endParaRPr sz="1350">
              <a:solidFill>
                <a:srgbClr val="232D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232D37"/>
                </a:solidFill>
                <a:latin typeface="Calibri"/>
                <a:ea typeface="Calibri"/>
                <a:cs typeface="Calibri"/>
                <a:sym typeface="Calibri"/>
              </a:rPr>
              <a:t>Scan/copy artefacts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306056" y="2304288"/>
            <a:ext cx="1993392" cy="171907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7306056" y="2304288"/>
            <a:ext cx="64008" cy="1719072"/>
          </a:xfrm>
          <a:prstGeom prst="rect">
            <a:avLst/>
          </a:prstGeom>
          <a:solidFill>
            <a:srgbClr val="B4373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452360" y="2395728"/>
            <a:ext cx="310896" cy="274320"/>
          </a:xfrm>
          <a:prstGeom prst="roundRect">
            <a:avLst>
              <a:gd fmla="val 16667" name="adj"/>
            </a:avLst>
          </a:prstGeom>
          <a:solidFill>
            <a:srgbClr val="B43737"/>
          </a:solidFill>
          <a:ln cap="flat" cmpd="sng" w="12700">
            <a:solidFill>
              <a:srgbClr val="B437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836408" y="2395728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FACE + LIVENESS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7452360" y="2779776"/>
            <a:ext cx="1719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ArcFace 1:1 match</a:t>
            </a:r>
            <a:endParaRPr sz="1390">
              <a:solidFill>
                <a:srgbClr val="232D37"/>
              </a:solidFill>
            </a:endParaRPr>
          </a:p>
          <a:p>
            <a:pPr indent="-31686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390"/>
              <a:buFont typeface="Arial"/>
              <a:buChar char="●"/>
            </a:pPr>
            <a:r>
              <a:rPr b="0" lang="en-US" sz="139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PAD / liveness for replay &amp; presentation attacks</a:t>
            </a:r>
            <a:endParaRPr sz="1900"/>
          </a:p>
        </p:txBody>
      </p:sp>
      <p:sp>
        <p:nvSpPr>
          <p:cNvPr id="128" name="Google Shape;128;p14"/>
          <p:cNvSpPr/>
          <p:nvPr/>
        </p:nvSpPr>
        <p:spPr>
          <a:xfrm>
            <a:off x="9527923" y="2307863"/>
            <a:ext cx="1993500" cy="171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9528048" y="2304288"/>
            <a:ext cx="64008" cy="1719072"/>
          </a:xfrm>
          <a:prstGeom prst="rect">
            <a:avLst/>
          </a:prstGeom>
          <a:solidFill>
            <a:srgbClr val="1F7B4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9674352" y="2395728"/>
            <a:ext cx="310896" cy="274320"/>
          </a:xfrm>
          <a:prstGeom prst="roundRect">
            <a:avLst>
              <a:gd fmla="val 16667" name="adj"/>
            </a:avLst>
          </a:prstGeom>
          <a:solidFill>
            <a:srgbClr val="1F7B46"/>
          </a:solidFill>
          <a:ln cap="flat" cmpd="sng" w="12700">
            <a:solidFill>
              <a:srgbClr val="1F7B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0058400" y="2395728"/>
            <a:ext cx="13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44E84"/>
                </a:solidFill>
              </a:rPr>
              <a:t>BLOCKCHAIN AUDIT</a:t>
            </a:r>
            <a:endParaRPr sz="1500"/>
          </a:p>
        </p:txBody>
      </p:sp>
      <p:sp>
        <p:nvSpPr>
          <p:cNvPr id="132" name="Google Shape;132;p14"/>
          <p:cNvSpPr txBox="1"/>
          <p:nvPr/>
        </p:nvSpPr>
        <p:spPr>
          <a:xfrm>
            <a:off x="9692525" y="2828400"/>
            <a:ext cx="1847100" cy="1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9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Weighted risk score</a:t>
            </a:r>
            <a:endParaRPr sz="1490">
              <a:solidFill>
                <a:srgbClr val="232D37"/>
              </a:solidFill>
            </a:endParaRPr>
          </a:p>
          <a:p>
            <a:pPr indent="-32321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490"/>
              <a:buFont typeface="Arial"/>
              <a:buChar char="●"/>
            </a:pPr>
            <a:r>
              <a:rPr b="0" lang="en-US" sz="149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explainable flags </a:t>
            </a:r>
            <a:endParaRPr sz="1490">
              <a:solidFill>
                <a:srgbClr val="232D37"/>
              </a:solidFill>
            </a:endParaRPr>
          </a:p>
          <a:p>
            <a:pPr indent="-32321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37"/>
              </a:buClr>
              <a:buSzPts val="1490"/>
              <a:buFont typeface="Arial"/>
              <a:buChar char="●"/>
            </a:pPr>
            <a:r>
              <a:rPr b="0" lang="en-US" sz="149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hash-chained audit record</a:t>
            </a:r>
            <a:endParaRPr sz="2000"/>
          </a:p>
        </p:txBody>
      </p:sp>
      <p:sp>
        <p:nvSpPr>
          <p:cNvPr id="133" name="Google Shape;133;p14"/>
          <p:cNvSpPr txBox="1"/>
          <p:nvPr/>
        </p:nvSpPr>
        <p:spPr>
          <a:xfrm>
            <a:off x="487775" y="4771350"/>
            <a:ext cx="1147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SentinelAI checks documents using AI forensics, OCR, and </a:t>
            </a:r>
            <a:r>
              <a:rPr b="1" lang="en-US" sz="1600">
                <a:solidFill>
                  <a:schemeClr val="dk1"/>
                </a:solidFill>
              </a:rPr>
              <a:t>cryptographic validation (PKI)</a:t>
            </a:r>
            <a:r>
              <a:rPr lang="en-US" sz="1600">
                <a:solidFill>
                  <a:schemeClr val="dk1"/>
                </a:solidFill>
              </a:rPr>
              <a:t> to detect forged details. Face matching and liveness detection verify the true identity of the holder. To ensure strict cybersecurity, every screening decision is hashed and </a:t>
            </a:r>
            <a:r>
              <a:rPr b="1" lang="en-US" sz="1600">
                <a:solidFill>
                  <a:schemeClr val="dk1"/>
                </a:solidFill>
              </a:rPr>
              <a:t>anchored to a blockchain ledger</a:t>
            </a:r>
            <a:r>
              <a:rPr lang="en-US" sz="1600">
                <a:solidFill>
                  <a:schemeClr val="dk1"/>
                </a:solidFill>
              </a:rPr>
              <a:t>, creating a tamper-proof, court-admissible audit trail.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2" name="Google Shape;142;p1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43" name="Google Shape;143;p1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640080" y="122529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640080" y="1572768"/>
            <a:ext cx="4709160" cy="6309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768096" y="1682495"/>
            <a:ext cx="356616" cy="29260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243584" y="1655064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2450592" y="1645920"/>
            <a:ext cx="26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Scanner / webcam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2615184" y="2194560"/>
            <a:ext cx="320040" cy="16459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BF1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40080" y="2340864"/>
            <a:ext cx="4709160" cy="6309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768096" y="2450592"/>
            <a:ext cx="356616" cy="29260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243584" y="2423160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Normalize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2450592" y="2414016"/>
            <a:ext cx="26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Crop • deskew • quality check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2615184" y="2962656"/>
            <a:ext cx="320040" cy="16459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BF1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40080" y="3108960"/>
            <a:ext cx="4709160" cy="6309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768096" y="3218688"/>
            <a:ext cx="356616" cy="29260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243584" y="3191256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2330951" y="3243575"/>
            <a:ext cx="30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MRZ / signed QR / OCR consistency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2615184" y="3730752"/>
            <a:ext cx="320040" cy="16459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BF1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640080" y="3877056"/>
            <a:ext cx="4709160" cy="6309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768096" y="3986784"/>
            <a:ext cx="356616" cy="29260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243584" y="3959352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450592" y="3950208"/>
            <a:ext cx="26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Forensics + face PAD / 1:1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2615184" y="4498848"/>
            <a:ext cx="320040" cy="16459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BF1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640080" y="4645152"/>
            <a:ext cx="4709160" cy="6309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768096" y="4754880"/>
            <a:ext cx="356616" cy="29260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243584" y="4727448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2450592" y="4718304"/>
            <a:ext cx="269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Fusion score + evidence packet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5715000" y="1225296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TECHNOLOGY STACK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715000" y="1572768"/>
            <a:ext cx="5623560" cy="630936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5879592" y="16733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AI / ML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7068312" y="1645920"/>
            <a:ext cx="340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232D37"/>
                </a:solidFill>
              </a:rPr>
              <a:t>AI / ML (Pre-Trained): PaddleOCR v4 • ArcFace • MiniFASNet • DocTamper</a:t>
            </a:r>
            <a:endParaRPr sz="1100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D37"/>
              </a:solidFill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10588752" y="1682495"/>
            <a:ext cx="548640" cy="210312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5715000" y="2276856"/>
            <a:ext cx="5623560" cy="630936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5879592" y="237744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7068312" y="2350008"/>
            <a:ext cx="3401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ONNX Runtime • FP16 / INT8 • CUDA</a:t>
            </a:r>
            <a:endParaRPr sz="1100"/>
          </a:p>
        </p:txBody>
      </p:sp>
      <p:sp>
        <p:nvSpPr>
          <p:cNvPr id="178" name="Google Shape;178;p15"/>
          <p:cNvSpPr/>
          <p:nvPr/>
        </p:nvSpPr>
        <p:spPr>
          <a:xfrm>
            <a:off x="10588752" y="2386584"/>
            <a:ext cx="548640" cy="210312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5715000" y="2980944"/>
            <a:ext cx="5623560" cy="630936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5879592" y="308152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7068312" y="3054096"/>
            <a:ext cx="3401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FastAPI • Redis • Qdrant • async workers</a:t>
            </a:r>
            <a:endParaRPr sz="1700"/>
          </a:p>
        </p:txBody>
      </p:sp>
      <p:sp>
        <p:nvSpPr>
          <p:cNvPr id="182" name="Google Shape;182;p15"/>
          <p:cNvSpPr/>
          <p:nvPr/>
        </p:nvSpPr>
        <p:spPr>
          <a:xfrm>
            <a:off x="10588752" y="3090672"/>
            <a:ext cx="548640" cy="210312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5715000" y="3685032"/>
            <a:ext cx="5623560" cy="630936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5879592" y="378561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7068312" y="3758184"/>
            <a:ext cx="340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AES-256 at rest • RBAC • SHA-256 hash chain</a:t>
            </a:r>
            <a:endParaRPr sz="1800"/>
          </a:p>
        </p:txBody>
      </p:sp>
      <p:sp>
        <p:nvSpPr>
          <p:cNvPr id="186" name="Google Shape;186;p15"/>
          <p:cNvSpPr/>
          <p:nvPr/>
        </p:nvSpPr>
        <p:spPr>
          <a:xfrm>
            <a:off x="10588752" y="3794760"/>
            <a:ext cx="548640" cy="210312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5715000" y="4389120"/>
            <a:ext cx="5623560" cy="630936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5879592" y="448970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7068312" y="4462272"/>
            <a:ext cx="340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2D37"/>
                </a:solidFill>
              </a:rPr>
              <a:t>S</a:t>
            </a:r>
            <a:r>
              <a:rPr b="0" lang="en-US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canner / webcam</a:t>
            </a:r>
            <a:endParaRPr sz="2000"/>
          </a:p>
        </p:txBody>
      </p:sp>
      <p:sp>
        <p:nvSpPr>
          <p:cNvPr id="190" name="Google Shape;190;p15"/>
          <p:cNvSpPr/>
          <p:nvPr/>
        </p:nvSpPr>
        <p:spPr>
          <a:xfrm>
            <a:off x="10588752" y="4498848"/>
            <a:ext cx="548640" cy="210312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HW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5802000" y="5244188"/>
            <a:ext cx="3480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28821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</a:rPr>
              <a:t>PRE-TRAINED WEIGHTS &amp; BENCHMARK DATASETS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5715000" y="5468112"/>
            <a:ext cx="5623560" cy="429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64000" lIns="64000" spcFirstLastPara="1" rIns="64000" wrap="square" tIns="6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9">
                <a:solidFill>
                  <a:srgbClr val="232D37"/>
                </a:solidFill>
              </a:rPr>
              <a:t>Models pre-trained on: CelebA-Spoof &amp; DocTamper corpus  |  Pipeline Benchmarked on: MIDV-500 &amp; CASIA v2.0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640080" y="5943600"/>
            <a:ext cx="10698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55626E"/>
                </a:solidFill>
                <a:latin typeface="Arial"/>
                <a:ea typeface="Arial"/>
                <a:cs typeface="Arial"/>
                <a:sym typeface="Arial"/>
              </a:rPr>
              <a:t>Validation focus: latency • FAR/FRR • attack-type recall • capture quality • demographic robustness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201" name="Google Shape;20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2" name="Google Shape;202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03" name="Google Shape;203;p1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640080" y="12252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F7B46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FEASIBILITY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640080" y="1581912"/>
            <a:ext cx="3474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768096" y="1709928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TECHNICAL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768096" y="2029968"/>
            <a:ext cx="32004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9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Core sub-problems have established public benchmarks: OCR, document tampering, face matching and presentation-attack detection.</a:t>
            </a:r>
            <a:endParaRPr sz="1800"/>
          </a:p>
        </p:txBody>
      </p:sp>
      <p:sp>
        <p:nvSpPr>
          <p:cNvPr id="209" name="Google Shape;209;p16"/>
          <p:cNvSpPr/>
          <p:nvPr/>
        </p:nvSpPr>
        <p:spPr>
          <a:xfrm>
            <a:off x="4462272" y="1581912"/>
            <a:ext cx="3474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4590288" y="1709928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4590288" y="2029968"/>
            <a:ext cx="32004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9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Edge-first execution reduces connectivity dependence; REST adapters make integration possible with agency-approved systems.</a:t>
            </a:r>
            <a:endParaRPr sz="1800"/>
          </a:p>
        </p:txBody>
      </p:sp>
      <p:sp>
        <p:nvSpPr>
          <p:cNvPr id="212" name="Google Shape;212;p16"/>
          <p:cNvSpPr/>
          <p:nvPr/>
        </p:nvSpPr>
        <p:spPr>
          <a:xfrm>
            <a:off x="8284464" y="1581912"/>
            <a:ext cx="347472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8412480" y="1709928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0">
                <a:solidFill>
                  <a:srgbClr val="1F7B46"/>
                </a:solidFill>
                <a:latin typeface="Arial"/>
                <a:ea typeface="Arial"/>
                <a:cs typeface="Arial"/>
                <a:sym typeface="Arial"/>
              </a:rPr>
              <a:t>PRIVACY / SECURITY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8412475" y="2029973"/>
            <a:ext cx="32004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rgbClr val="232D37"/>
                </a:solidFill>
              </a:rPr>
              <a:t>DPDP Act Compliant: Zero biometric retention. Encrypt stored evidence (AES-256) and anchor every decision event to an immutable blockchain ledger for zero-trust auditing.</a:t>
            </a:r>
            <a:endParaRPr sz="1169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9">
              <a:solidFill>
                <a:srgbClr val="232D37"/>
              </a:solidFill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640080" y="31729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28821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RISKS → MITIGATIONS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640080" y="3511296"/>
            <a:ext cx="10808208" cy="438912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768096" y="3593591"/>
            <a:ext cx="1993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Connectivity</a:t>
            </a:r>
            <a:endParaRPr sz="1800"/>
          </a:p>
        </p:txBody>
      </p:sp>
      <p:sp>
        <p:nvSpPr>
          <p:cNvPr id="218" name="Google Shape;218;p16"/>
          <p:cNvSpPr txBox="1"/>
          <p:nvPr/>
        </p:nvSpPr>
        <p:spPr>
          <a:xfrm>
            <a:off x="2761500" y="3575300"/>
            <a:ext cx="88209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10">
                <a:solidFill>
                  <a:srgbClr val="232D37"/>
                </a:solidFill>
              </a:rPr>
              <a:t>100% offline edge inference; batch-sync cryptographic audit hashes to central blockchain ledger when connectivity restores.</a:t>
            </a:r>
            <a:endParaRPr sz="1210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0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0">
              <a:solidFill>
                <a:srgbClr val="232D37"/>
              </a:solidFill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640080" y="4014215"/>
            <a:ext cx="1080820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768096" y="4096511"/>
            <a:ext cx="1993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Replay / AI spoof</a:t>
            </a:r>
            <a:endParaRPr sz="1700"/>
          </a:p>
        </p:txBody>
      </p:sp>
      <p:sp>
        <p:nvSpPr>
          <p:cNvPr id="221" name="Google Shape;221;p16"/>
          <p:cNvSpPr txBox="1"/>
          <p:nvPr/>
        </p:nvSpPr>
        <p:spPr>
          <a:xfrm>
            <a:off x="2761426" y="4125212"/>
            <a:ext cx="83943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1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Combine document forensics with biometric PAD; escalate uncertain cases.</a:t>
            </a:r>
            <a:endParaRPr sz="2000"/>
          </a:p>
        </p:txBody>
      </p:sp>
      <p:sp>
        <p:nvSpPr>
          <p:cNvPr id="222" name="Google Shape;222;p16"/>
          <p:cNvSpPr/>
          <p:nvPr/>
        </p:nvSpPr>
        <p:spPr>
          <a:xfrm>
            <a:off x="640080" y="4517136"/>
            <a:ext cx="10808208" cy="438912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768096" y="4599431"/>
            <a:ext cx="1993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Bias / capture quality</a:t>
            </a:r>
            <a:endParaRPr sz="1800"/>
          </a:p>
        </p:txBody>
      </p:sp>
      <p:sp>
        <p:nvSpPr>
          <p:cNvPr id="224" name="Google Shape;224;p16"/>
          <p:cNvSpPr txBox="1"/>
          <p:nvPr/>
        </p:nvSpPr>
        <p:spPr>
          <a:xfrm>
            <a:off x="2761488" y="4635782"/>
            <a:ext cx="83943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1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Test by document type, device, lighting and demographic group.</a:t>
            </a:r>
            <a:endParaRPr sz="1900"/>
          </a:p>
        </p:txBody>
      </p:sp>
      <p:sp>
        <p:nvSpPr>
          <p:cNvPr id="225" name="Google Shape;225;p16"/>
          <p:cNvSpPr/>
          <p:nvPr/>
        </p:nvSpPr>
        <p:spPr>
          <a:xfrm>
            <a:off x="640080" y="5020055"/>
            <a:ext cx="10808208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768096" y="5102351"/>
            <a:ext cx="1993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Evidence / privacy</a:t>
            </a:r>
            <a:endParaRPr sz="1700"/>
          </a:p>
        </p:txBody>
      </p:sp>
      <p:sp>
        <p:nvSpPr>
          <p:cNvPr id="227" name="Google Shape;227;p16"/>
          <p:cNvSpPr txBox="1"/>
          <p:nvPr/>
        </p:nvSpPr>
        <p:spPr>
          <a:xfrm>
            <a:off x="2761500" y="5126475"/>
            <a:ext cx="86778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0">
                <a:solidFill>
                  <a:srgbClr val="232D37"/>
                </a:solidFill>
              </a:rPr>
              <a:t>Blockchain-backed traceable reports ensure court-admissible evidence, strict RBAC and AES-256 encryption.</a:t>
            </a:r>
            <a:endParaRPr sz="1110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>
              <a:solidFill>
                <a:srgbClr val="232D3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0">
              <a:solidFill>
                <a:srgbClr val="232D37"/>
              </a:solidFill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40080" y="551383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PILOT PATH</a:t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640080" y="5751576"/>
            <a:ext cx="34290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749708" y="5828414"/>
            <a:ext cx="31548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9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1  BENCHMARK</a:t>
            </a:r>
            <a:endParaRPr sz="1600"/>
          </a:p>
        </p:txBody>
      </p:sp>
      <p:sp>
        <p:nvSpPr>
          <p:cNvPr id="231" name="Google Shape;231;p16"/>
          <p:cNvSpPr txBox="1"/>
          <p:nvPr/>
        </p:nvSpPr>
        <p:spPr>
          <a:xfrm>
            <a:off x="749800" y="6044171"/>
            <a:ext cx="31548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Controlled fraud cases + public data</a:t>
            </a:r>
            <a:endParaRPr sz="2000"/>
          </a:p>
        </p:txBody>
      </p:sp>
      <p:sp>
        <p:nvSpPr>
          <p:cNvPr id="232" name="Google Shape;232;p16"/>
          <p:cNvSpPr/>
          <p:nvPr/>
        </p:nvSpPr>
        <p:spPr>
          <a:xfrm>
            <a:off x="4325112" y="5751576"/>
            <a:ext cx="34290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4462265" y="5815426"/>
            <a:ext cx="31548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9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2  FIELD PILOT</a:t>
            </a:r>
            <a:endParaRPr sz="1600"/>
          </a:p>
        </p:txBody>
      </p:sp>
      <p:sp>
        <p:nvSpPr>
          <p:cNvPr id="234" name="Google Shape;234;p16"/>
          <p:cNvSpPr txBox="1"/>
          <p:nvPr/>
        </p:nvSpPr>
        <p:spPr>
          <a:xfrm>
            <a:off x="4434850" y="6044171"/>
            <a:ext cx="31548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One kiosk, officer-in-the-loop</a:t>
            </a:r>
            <a:endParaRPr sz="2000"/>
          </a:p>
        </p:txBody>
      </p:sp>
      <p:sp>
        <p:nvSpPr>
          <p:cNvPr id="235" name="Google Shape;235;p16"/>
          <p:cNvSpPr/>
          <p:nvPr/>
        </p:nvSpPr>
        <p:spPr>
          <a:xfrm>
            <a:off x="8010144" y="5751576"/>
            <a:ext cx="34290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8174696" y="5843851"/>
            <a:ext cx="31548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9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3  SCALE</a:t>
            </a:r>
            <a:endParaRPr sz="1600"/>
          </a:p>
        </p:txBody>
      </p:sp>
      <p:sp>
        <p:nvSpPr>
          <p:cNvPr id="237" name="Google Shape;237;p16"/>
          <p:cNvSpPr txBox="1"/>
          <p:nvPr/>
        </p:nvSpPr>
        <p:spPr>
          <a:xfrm>
            <a:off x="8119875" y="6044171"/>
            <a:ext cx="31548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Approved integrations + central audit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245" name="Google Shape;245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6" name="Google Shape;246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47" name="Google Shape;247;p17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7"/>
          <p:cNvSpPr txBox="1"/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4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640080" y="1225296"/>
            <a:ext cx="10835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TARGETED VALUE: up to 12× faster screening • multi-signal triage • traceable evidence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640080" y="1783080"/>
            <a:ext cx="3429000" cy="9327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777240" y="1920240"/>
            <a:ext cx="118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≤15 s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938528" y="1874519"/>
            <a:ext cx="19659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30">
                <a:solidFill>
                  <a:srgbClr val="4B4B4B"/>
                </a:solidFill>
              </a:rPr>
              <a:t>T</a:t>
            </a:r>
            <a:r>
              <a:rPr b="0" lang="en-US" sz="19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arget end-to-end screening</a:t>
            </a:r>
            <a:endParaRPr sz="2500"/>
          </a:p>
        </p:txBody>
      </p:sp>
      <p:sp>
        <p:nvSpPr>
          <p:cNvPr id="254" name="Google Shape;254;p17"/>
          <p:cNvSpPr/>
          <p:nvPr/>
        </p:nvSpPr>
        <p:spPr>
          <a:xfrm>
            <a:off x="4325112" y="1783080"/>
            <a:ext cx="3429000" cy="9327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1F7B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4462272" y="1920240"/>
            <a:ext cx="118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C804E"/>
                </a:solidFill>
                <a:latin typeface="Arial"/>
                <a:ea typeface="Arial"/>
                <a:cs typeface="Arial"/>
                <a:sym typeface="Arial"/>
              </a:rPr>
              <a:t>Multi-signal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4392175" y="2225800"/>
            <a:ext cx="32949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0">
                <a:solidFill>
                  <a:srgbClr val="4B4B4B"/>
                </a:solidFill>
              </a:rPr>
              <a:t>D</a:t>
            </a:r>
            <a:r>
              <a:rPr b="0" lang="en-US" sz="16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ocument + </a:t>
            </a:r>
            <a:r>
              <a:rPr lang="en-US" sz="1630">
                <a:solidFill>
                  <a:srgbClr val="4B4B4B"/>
                </a:solidFill>
              </a:rPr>
              <a:t>I</a:t>
            </a:r>
            <a:r>
              <a:rPr b="0" lang="en-US" sz="16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dentity + PAD + </a:t>
            </a:r>
            <a:r>
              <a:rPr lang="en-US" sz="1630">
                <a:solidFill>
                  <a:srgbClr val="4B4B4B"/>
                </a:solidFill>
              </a:rPr>
              <a:t>R</a:t>
            </a:r>
            <a:r>
              <a:rPr b="0" lang="en-US" sz="16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ules</a:t>
            </a:r>
            <a:endParaRPr sz="2200"/>
          </a:p>
        </p:txBody>
      </p:sp>
      <p:sp>
        <p:nvSpPr>
          <p:cNvPr id="257" name="Google Shape;257;p17"/>
          <p:cNvSpPr/>
          <p:nvPr/>
        </p:nvSpPr>
        <p:spPr>
          <a:xfrm>
            <a:off x="8010144" y="1783080"/>
            <a:ext cx="3429000" cy="932700"/>
          </a:xfrm>
          <a:prstGeom prst="roundRect">
            <a:avLst>
              <a:gd fmla="val 16667" name="adj"/>
            </a:avLst>
          </a:prstGeom>
          <a:solidFill>
            <a:srgbClr val="F4F7F9"/>
          </a:solidFill>
          <a:ln cap="flat" cmpd="sng" w="12700">
            <a:solidFill>
              <a:srgbClr val="F2882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8147304" y="1920240"/>
            <a:ext cx="118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67E22"/>
                </a:solidFill>
                <a:latin typeface="Arial"/>
                <a:ea typeface="Arial"/>
                <a:cs typeface="Arial"/>
                <a:sym typeface="Arial"/>
              </a:rPr>
              <a:t>Traceable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8174775" y="2334550"/>
            <a:ext cx="30711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0">
                <a:solidFill>
                  <a:srgbClr val="4B4B4B"/>
                </a:solidFill>
              </a:rPr>
              <a:t>D</a:t>
            </a:r>
            <a:r>
              <a:rPr b="0" lang="en-US" sz="14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ecision → </a:t>
            </a:r>
            <a:r>
              <a:rPr lang="en-US" sz="1430">
                <a:solidFill>
                  <a:srgbClr val="4B4B4B"/>
                </a:solidFill>
              </a:rPr>
              <a:t>E</a:t>
            </a:r>
            <a:r>
              <a:rPr b="0" lang="en-US" sz="14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vidence → </a:t>
            </a:r>
            <a:r>
              <a:rPr lang="en-US" sz="1430">
                <a:solidFill>
                  <a:srgbClr val="4B4B4B"/>
                </a:solidFill>
              </a:rPr>
              <a:t>A</a:t>
            </a:r>
            <a:r>
              <a:rPr b="0" lang="en-US" sz="14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udit </a:t>
            </a:r>
            <a:r>
              <a:rPr lang="en-US" sz="1430">
                <a:solidFill>
                  <a:srgbClr val="4B4B4B"/>
                </a:solidFill>
              </a:rPr>
              <a:t>E</a:t>
            </a:r>
            <a:r>
              <a:rPr b="0" lang="en-US" sz="1430">
                <a:solidFill>
                  <a:srgbClr val="4B4B4B"/>
                </a:solidFill>
                <a:latin typeface="Arial"/>
                <a:ea typeface="Arial"/>
                <a:cs typeface="Arial"/>
                <a:sym typeface="Arial"/>
              </a:rPr>
              <a:t>vent</a:t>
            </a:r>
            <a:endParaRPr sz="2000"/>
          </a:p>
        </p:txBody>
      </p:sp>
      <p:sp>
        <p:nvSpPr>
          <p:cNvPr id="260" name="Google Shape;260;p17"/>
          <p:cNvSpPr txBox="1"/>
          <p:nvPr/>
        </p:nvSpPr>
        <p:spPr>
          <a:xfrm>
            <a:off x="640080" y="2944368"/>
            <a:ext cx="2560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6FB4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PILOT SUCCESS METRICS</a:t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640080" y="3246120"/>
            <a:ext cx="2971800" cy="393300"/>
          </a:xfrm>
          <a:prstGeom prst="rect">
            <a:avLst/>
          </a:prstGeom>
          <a:solidFill>
            <a:srgbClr val="244E84"/>
          </a:solidFill>
          <a:ln cap="flat" cmpd="sng" w="12700">
            <a:solidFill>
              <a:srgbClr val="244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sz="2300"/>
          </a:p>
        </p:txBody>
      </p:sp>
      <p:sp>
        <p:nvSpPr>
          <p:cNvPr id="262" name="Google Shape;262;p17"/>
          <p:cNvSpPr/>
          <p:nvPr/>
        </p:nvSpPr>
        <p:spPr>
          <a:xfrm>
            <a:off x="3703320" y="3246120"/>
            <a:ext cx="2788800" cy="393300"/>
          </a:xfrm>
          <a:prstGeom prst="rect">
            <a:avLst/>
          </a:prstGeom>
          <a:solidFill>
            <a:srgbClr val="244E84"/>
          </a:solidFill>
          <a:ln cap="flat" cmpd="sng" w="12700">
            <a:solidFill>
              <a:srgbClr val="244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workflow</a:t>
            </a:r>
            <a:endParaRPr sz="2300"/>
          </a:p>
        </p:txBody>
      </p:sp>
      <p:sp>
        <p:nvSpPr>
          <p:cNvPr id="263" name="Google Shape;263;p17"/>
          <p:cNvSpPr/>
          <p:nvPr/>
        </p:nvSpPr>
        <p:spPr>
          <a:xfrm>
            <a:off x="6583680" y="3246120"/>
            <a:ext cx="2331600" cy="393300"/>
          </a:xfrm>
          <a:prstGeom prst="rect">
            <a:avLst/>
          </a:prstGeom>
          <a:solidFill>
            <a:srgbClr val="244E84"/>
          </a:solidFill>
          <a:ln cap="flat" cmpd="sng" w="12700">
            <a:solidFill>
              <a:srgbClr val="244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Pilot target</a:t>
            </a:r>
            <a:endParaRPr sz="2300"/>
          </a:p>
        </p:txBody>
      </p:sp>
      <p:sp>
        <p:nvSpPr>
          <p:cNvPr id="264" name="Google Shape;264;p17"/>
          <p:cNvSpPr/>
          <p:nvPr/>
        </p:nvSpPr>
        <p:spPr>
          <a:xfrm>
            <a:off x="9144000" y="3246120"/>
            <a:ext cx="2304300" cy="393300"/>
          </a:xfrm>
          <a:prstGeom prst="rect">
            <a:avLst/>
          </a:prstGeom>
          <a:solidFill>
            <a:srgbClr val="244E84"/>
          </a:solidFill>
          <a:ln cap="flat" cmpd="sng" w="12700">
            <a:solidFill>
              <a:srgbClr val="244E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2300"/>
          </a:p>
        </p:txBody>
      </p:sp>
      <p:sp>
        <p:nvSpPr>
          <p:cNvPr id="265" name="Google Shape;265;p17"/>
          <p:cNvSpPr/>
          <p:nvPr/>
        </p:nvSpPr>
        <p:spPr>
          <a:xfrm>
            <a:off x="640080" y="3639312"/>
            <a:ext cx="29718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Screening time</a:t>
            </a:r>
            <a:endParaRPr sz="2300"/>
          </a:p>
        </p:txBody>
      </p:sp>
      <p:sp>
        <p:nvSpPr>
          <p:cNvPr id="266" name="Google Shape;266;p17"/>
          <p:cNvSpPr/>
          <p:nvPr/>
        </p:nvSpPr>
        <p:spPr>
          <a:xfrm>
            <a:off x="3703320" y="3639312"/>
            <a:ext cx="27888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Manual / multi-step 90–180 s*</a:t>
            </a:r>
            <a:endParaRPr sz="2200"/>
          </a:p>
        </p:txBody>
      </p:sp>
      <p:sp>
        <p:nvSpPr>
          <p:cNvPr id="267" name="Google Shape;267;p17"/>
          <p:cNvSpPr/>
          <p:nvPr/>
        </p:nvSpPr>
        <p:spPr>
          <a:xfrm>
            <a:off x="6583680" y="3639312"/>
            <a:ext cx="23316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≤15 s</a:t>
            </a:r>
            <a:b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(target)</a:t>
            </a:r>
            <a:endParaRPr sz="2100"/>
          </a:p>
        </p:txBody>
      </p:sp>
      <p:sp>
        <p:nvSpPr>
          <p:cNvPr id="268" name="Google Shape;268;p17"/>
          <p:cNvSpPr/>
          <p:nvPr/>
        </p:nvSpPr>
        <p:spPr>
          <a:xfrm>
            <a:off x="9144000" y="3639312"/>
            <a:ext cx="23043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sz="2300"/>
          </a:p>
        </p:txBody>
      </p:sp>
      <p:sp>
        <p:nvSpPr>
          <p:cNvPr id="269" name="Google Shape;269;p17"/>
          <p:cNvSpPr/>
          <p:nvPr/>
        </p:nvSpPr>
        <p:spPr>
          <a:xfrm>
            <a:off x="640080" y="4114800"/>
            <a:ext cx="2971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endParaRPr sz="2300"/>
          </a:p>
        </p:txBody>
      </p:sp>
      <p:sp>
        <p:nvSpPr>
          <p:cNvPr id="270" name="Google Shape;270;p17"/>
          <p:cNvSpPr/>
          <p:nvPr/>
        </p:nvSpPr>
        <p:spPr>
          <a:xfrm>
            <a:off x="3703320" y="4114800"/>
            <a:ext cx="2788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Visual + separate checks</a:t>
            </a:r>
            <a:endParaRPr sz="2300"/>
          </a:p>
        </p:txBody>
      </p:sp>
      <p:sp>
        <p:nvSpPr>
          <p:cNvPr id="271" name="Google Shape;271;p17"/>
          <p:cNvSpPr/>
          <p:nvPr/>
        </p:nvSpPr>
        <p:spPr>
          <a:xfrm>
            <a:off x="6583680" y="4114800"/>
            <a:ext cx="2331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Multi-signal AI</a:t>
            </a:r>
            <a:b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+ human review</a:t>
            </a:r>
            <a:endParaRPr sz="2100"/>
          </a:p>
        </p:txBody>
      </p:sp>
      <p:sp>
        <p:nvSpPr>
          <p:cNvPr id="272" name="Google Shape;272;p17"/>
          <p:cNvSpPr/>
          <p:nvPr/>
        </p:nvSpPr>
        <p:spPr>
          <a:xfrm>
            <a:off x="9144000" y="4114800"/>
            <a:ext cx="23043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2300"/>
          </a:p>
        </p:txBody>
      </p:sp>
      <p:sp>
        <p:nvSpPr>
          <p:cNvPr id="273" name="Google Shape;273;p17"/>
          <p:cNvSpPr/>
          <p:nvPr/>
        </p:nvSpPr>
        <p:spPr>
          <a:xfrm>
            <a:off x="640080" y="4590288"/>
            <a:ext cx="29718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 sz="2300"/>
          </a:p>
        </p:txBody>
      </p:sp>
      <p:sp>
        <p:nvSpPr>
          <p:cNvPr id="274" name="Google Shape;274;p17"/>
          <p:cNvSpPr/>
          <p:nvPr/>
        </p:nvSpPr>
        <p:spPr>
          <a:xfrm>
            <a:off x="3703320" y="4590288"/>
            <a:ext cx="27888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Manual / editable logs</a:t>
            </a:r>
            <a:endParaRPr sz="2300"/>
          </a:p>
        </p:txBody>
      </p:sp>
      <p:sp>
        <p:nvSpPr>
          <p:cNvPr id="275" name="Google Shape;275;p17"/>
          <p:cNvSpPr/>
          <p:nvPr/>
        </p:nvSpPr>
        <p:spPr>
          <a:xfrm>
            <a:off x="6583680" y="4590288"/>
            <a:ext cx="23316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Hash-linked</a:t>
            </a:r>
            <a:b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evidence record</a:t>
            </a:r>
            <a:endParaRPr sz="2100"/>
          </a:p>
        </p:txBody>
      </p:sp>
      <p:sp>
        <p:nvSpPr>
          <p:cNvPr id="276" name="Google Shape;276;p17"/>
          <p:cNvSpPr/>
          <p:nvPr/>
        </p:nvSpPr>
        <p:spPr>
          <a:xfrm>
            <a:off x="9144000" y="4590288"/>
            <a:ext cx="2304300" cy="438900"/>
          </a:xfrm>
          <a:prstGeom prst="rect">
            <a:avLst/>
          </a:prstGeom>
          <a:solidFill>
            <a:srgbClr val="F4F7F9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 sz="2300"/>
          </a:p>
        </p:txBody>
      </p:sp>
      <p:sp>
        <p:nvSpPr>
          <p:cNvPr id="277" name="Google Shape;277;p17"/>
          <p:cNvSpPr/>
          <p:nvPr/>
        </p:nvSpPr>
        <p:spPr>
          <a:xfrm>
            <a:off x="640080" y="5065775"/>
            <a:ext cx="2971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Officer effort</a:t>
            </a:r>
            <a:endParaRPr sz="2300"/>
          </a:p>
        </p:txBody>
      </p:sp>
      <p:sp>
        <p:nvSpPr>
          <p:cNvPr id="278" name="Google Shape;278;p17"/>
          <p:cNvSpPr/>
          <p:nvPr/>
        </p:nvSpPr>
        <p:spPr>
          <a:xfrm>
            <a:off x="3703320" y="5065775"/>
            <a:ext cx="27888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Review every case</a:t>
            </a:r>
            <a:endParaRPr sz="2300"/>
          </a:p>
        </p:txBody>
      </p:sp>
      <p:sp>
        <p:nvSpPr>
          <p:cNvPr id="279" name="Google Shape;279;p17"/>
          <p:cNvSpPr/>
          <p:nvPr/>
        </p:nvSpPr>
        <p:spPr>
          <a:xfrm>
            <a:off x="6583680" y="5065775"/>
            <a:ext cx="23316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r>
              <a:rPr b="1"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-led review</a:t>
            </a:r>
            <a:endParaRPr sz="2300"/>
          </a:p>
        </p:txBody>
      </p:sp>
      <p:sp>
        <p:nvSpPr>
          <p:cNvPr id="280" name="Google Shape;280;p17"/>
          <p:cNvSpPr/>
          <p:nvPr/>
        </p:nvSpPr>
        <p:spPr>
          <a:xfrm>
            <a:off x="9144000" y="5065775"/>
            <a:ext cx="23043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>
                <a:solidFill>
                  <a:srgbClr val="232323"/>
                </a:solidFill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sz="2300"/>
          </a:p>
        </p:txBody>
      </p:sp>
      <p:sp>
        <p:nvSpPr>
          <p:cNvPr id="281" name="Google Shape;281;p17"/>
          <p:cNvSpPr txBox="1"/>
          <p:nvPr/>
        </p:nvSpPr>
        <p:spPr>
          <a:xfrm>
            <a:off x="640080" y="5650992"/>
            <a:ext cx="2011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F7B46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1" lang="en-US" sz="9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BENEFICIARIES</a:t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640080" y="5925312"/>
            <a:ext cx="6784800" cy="36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78.6M international passengers in 2025 (provisional, MoCA) • border / immigration officers • investigators • travellers &amp; citizens</a:t>
            </a:r>
            <a:endParaRPr sz="1700"/>
          </a:p>
        </p:txBody>
      </p:sp>
      <p:sp>
        <p:nvSpPr>
          <p:cNvPr id="283" name="Google Shape;283;p17"/>
          <p:cNvSpPr/>
          <p:nvPr/>
        </p:nvSpPr>
        <p:spPr>
          <a:xfrm>
            <a:off x="7607808" y="5650992"/>
            <a:ext cx="3840600" cy="658500"/>
          </a:xfrm>
          <a:prstGeom prst="roundRect">
            <a:avLst>
              <a:gd fmla="val 16667" name="adj"/>
            </a:avLst>
          </a:prstGeom>
          <a:solidFill>
            <a:srgbClr val="EBF1F6"/>
          </a:solidFill>
          <a:ln cap="flat" cmpd="sng" w="12700">
            <a:solidFill>
              <a:srgbClr val="EBF1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64000" lIns="64000" spcFirstLastPara="1" rIns="64000" wrap="square" tIns="6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0">
                <a:solidFill>
                  <a:srgbClr val="4B4B4B"/>
                </a:solidFill>
                <a:latin typeface="Calibri"/>
                <a:ea typeface="Calibri"/>
                <a:cs typeface="Calibri"/>
                <a:sym typeface="Calibri"/>
              </a:rPr>
              <a:t>All figures are projected pilot targets or planning baselines, not claimed production results. *90–180 s is the planning baseline. Passenger volume: MoCA 2025 provisional.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291" name="Google Shape;29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2" name="Google Shape;292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293" name="Google Shape;293;p18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Ctrl 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8"/>
          <p:cNvSpPr txBox="1"/>
          <p:nvPr/>
        </p:nvSpPr>
        <p:spPr>
          <a:xfrm>
            <a:off x="640080" y="1225296"/>
            <a:ext cx="10835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244E84"/>
                </a:solidFill>
                <a:latin typeface="Arial"/>
                <a:ea typeface="Arial"/>
                <a:cs typeface="Arial"/>
                <a:sym typeface="Arial"/>
              </a:rPr>
              <a:t>EVIDENCE BASE: </a:t>
            </a:r>
            <a:r>
              <a:rPr b="0" lang="en-US" sz="1450">
                <a:solidFill>
                  <a:srgbClr val="232D37"/>
                </a:solidFill>
                <a:latin typeface="Arial"/>
                <a:ea typeface="Arial"/>
                <a:cs typeface="Arial"/>
                <a:sym typeface="Arial"/>
              </a:rPr>
              <a:t>problem validation + method validation + Indian governance</a:t>
            </a:r>
            <a:endParaRPr/>
          </a:p>
        </p:txBody>
      </p:sp>
      <p:sp>
        <p:nvSpPr>
          <p:cNvPr id="296" name="Google Shape;296;p18"/>
          <p:cNvSpPr/>
          <p:nvPr/>
        </p:nvSpPr>
        <p:spPr>
          <a:xfrm>
            <a:off x="640080" y="1682496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731519" y="1773936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1097280" y="1746504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ICAO Doc 9303 (8th Edition)  —  MRZ Validation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1097280" y="1947672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International standard for Machine Readable Travel Documents, used for checksum validation.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1097280" y="2350008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5626E"/>
                </a:solidFill>
                <a:latin typeface="Arial"/>
              </a:rPr>
              <a:t>icao.int/publications/doc-series/doc-9303</a:t>
            </a:r>
            <a:endParaRPr/>
          </a:p>
        </p:txBody>
      </p:sp>
      <p:sp>
        <p:nvSpPr>
          <p:cNvPr id="301" name="Google Shape;301;p18"/>
          <p:cNvSpPr/>
          <p:nvPr/>
        </p:nvSpPr>
        <p:spPr>
          <a:xfrm>
            <a:off x="640080" y="2670048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731519" y="2761488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1097280" y="2734056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UIDAI Secure QR  —  Offline Aadhaar PKI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1097280" y="2935224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Digital signature verification framework (RSA-2048) for offline Aadhaar authenticity.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1097280" y="3337560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uidai.gov.in  (Ecosystem &gt; Auth Devices &gt; QR Code Reader)</a:t>
            </a:r>
            <a:endParaRPr/>
          </a:p>
        </p:txBody>
      </p:sp>
      <p:sp>
        <p:nvSpPr>
          <p:cNvPr id="306" name="Google Shape;306;p18"/>
          <p:cNvSpPr/>
          <p:nvPr/>
        </p:nvSpPr>
        <p:spPr>
          <a:xfrm>
            <a:off x="640080" y="3657600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731519" y="3749039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1097280" y="3721608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DocTamper (CVPR 2023)  —  Document Forensics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097280" y="3922776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Splicing CNN trained on 170k document images for robust tampering and forgery detection.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097280" y="4325112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openaccess.thecvf.com/content/CVPR2023/html/Qu_Towards_Robust_Tampered_Text_CVPR_2023_paper.html</a:t>
            </a:r>
            <a:endParaRPr/>
          </a:p>
        </p:txBody>
      </p:sp>
      <p:sp>
        <p:nvSpPr>
          <p:cNvPr id="311" name="Google Shape;311;p18"/>
          <p:cNvSpPr/>
          <p:nvPr/>
        </p:nvSpPr>
        <p:spPr>
          <a:xfrm>
            <a:off x="640080" y="4645152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731519" y="4736592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097280" y="4709160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ArcFace (CVPR 2019)  —  1:1 Face Matching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1097280" y="4910328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Additive Angular Margin Loss for highly discriminative deep face recognition embeddings.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1097280" y="5312664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5626E"/>
                </a:solidFill>
                <a:latin typeface="Arial"/>
              </a:rPr>
              <a:t>arxiv.org/abs/1801.07698</a:t>
            </a:r>
            <a:endParaRPr/>
          </a:p>
        </p:txBody>
      </p:sp>
      <p:sp>
        <p:nvSpPr>
          <p:cNvPr id="316" name="Google Shape;316;p18"/>
          <p:cNvSpPr/>
          <p:nvPr/>
        </p:nvSpPr>
        <p:spPr>
          <a:xfrm>
            <a:off x="6126480" y="1682496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6217920" y="1773936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18" name="Google Shape;318;p18"/>
          <p:cNvSpPr txBox="1"/>
          <p:nvPr/>
        </p:nvSpPr>
        <p:spPr>
          <a:xfrm>
            <a:off x="6583680" y="1746504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MiniFASNet &amp; CelebA-Spoof (ECCV 2020)  —  Liveness</a:t>
            </a:r>
            <a:endParaRPr/>
          </a:p>
        </p:txBody>
      </p:sp>
      <p:sp>
        <p:nvSpPr>
          <p:cNvPr id="319" name="Google Shape;319;p18"/>
          <p:cNvSpPr txBox="1"/>
          <p:nvPr/>
        </p:nvSpPr>
        <p:spPr>
          <a:xfrm>
            <a:off x="6583680" y="1947672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Lightweight Face Anti-Spoofing Network trained on 625k images for Presentation Attack Detection.</a:t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6583680" y="2350008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5626E"/>
                </a:solidFill>
                <a:latin typeface="Arial"/>
              </a:rPr>
              <a:t>arxiv.org/abs/2007.12342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6126480" y="2670048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6217920" y="2761488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6583680" y="2734056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PaddleOCR v4  —  Edge Data Extraction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6583680" y="2935224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High-accuracy, lightweight multilingual OCR engine optimized for edge deployments.</a:t>
            </a:r>
            <a:endParaRPr/>
          </a:p>
        </p:txBody>
      </p:sp>
      <p:sp>
        <p:nvSpPr>
          <p:cNvPr id="325" name="Google Shape;325;p18"/>
          <p:cNvSpPr txBox="1"/>
          <p:nvPr/>
        </p:nvSpPr>
        <p:spPr>
          <a:xfrm>
            <a:off x="6583680" y="3337560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5626E"/>
                </a:solidFill>
                <a:latin typeface="Arial"/>
              </a:rPr>
              <a:t>github.com/PaddlePaddle/PaddleOCR</a:t>
            </a:r>
            <a:endParaRPr/>
          </a:p>
        </p:txBody>
      </p:sp>
      <p:sp>
        <p:nvSpPr>
          <p:cNvPr id="326" name="Google Shape;326;p18"/>
          <p:cNvSpPr/>
          <p:nvPr/>
        </p:nvSpPr>
        <p:spPr>
          <a:xfrm>
            <a:off x="6126480" y="3657600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6217920" y="3749039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6583680" y="3721608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Polygon PoS Architecture  —  Immutable Ledger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6583680" y="3922776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EVM-compatible blockchain network used for anchoring cryptographically verifiable audit trails.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6583680" y="4325112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5626E"/>
                </a:solidFill>
                <a:latin typeface="Arial"/>
              </a:rPr>
              <a:t>polygon.technology</a:t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6126480" y="4645152"/>
            <a:ext cx="5321808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9D3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6217920" y="4736592"/>
            <a:ext cx="274320" cy="246888"/>
          </a:xfrm>
          <a:prstGeom prst="roundRect">
            <a:avLst>
              <a:gd fmla="val 16667" name="adj"/>
            </a:avLst>
          </a:prstGeom>
          <a:solidFill>
            <a:srgbClr val="146FB4"/>
          </a:solidFill>
          <a:ln cap="flat" cmpd="sng" w="12700">
            <a:solidFill>
              <a:srgbClr val="146F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9125" spcFirstLastPara="1" rIns="912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6583680" y="4709160"/>
            <a:ext cx="4754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>
                <a:solidFill>
                  <a:srgbClr val="244E84"/>
                </a:solidFill>
                <a:latin typeface="Arial"/>
              </a:rPr>
              <a:t>BSA 2023 (§63) &amp; DPDP Act 2023  —  Compliance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6583680" y="4910328"/>
            <a:ext cx="47548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9125" spcFirstLastPara="1" rIns="9125" wrap="square" tIns="9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20" b="0">
                <a:solidFill>
                  <a:srgbClr val="232D37"/>
                </a:solidFill>
                <a:latin typeface="Arial"/>
              </a:rPr>
              <a:t>Legal frameworks for the admissibility of electronic evidence and protection of personal data.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6583680" y="5312664"/>
            <a:ext cx="4754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" b="0">
                <a:solidFill>
                  <a:srgbClr val="55626E"/>
                </a:solidFill>
                <a:latin typeface="Arial"/>
              </a:rPr>
              <a:t>indiacode.nic.in / meity.gov.in</a:t>
            </a:r>
            <a:endParaRPr/>
          </a:p>
        </p:txBody>
      </p:sp>
      <p:sp>
        <p:nvSpPr>
          <p:cNvPr id="336" name="Google Shape;336;p18"/>
          <p:cNvSpPr/>
          <p:nvPr/>
        </p:nvSpPr>
        <p:spPr>
          <a:xfrm>
            <a:off x="640080" y="5760720"/>
            <a:ext cx="10808208" cy="502920"/>
          </a:xfrm>
          <a:prstGeom prst="roundRect">
            <a:avLst>
              <a:gd fmla="val 16667" name="adj"/>
            </a:avLst>
          </a:prstGeom>
          <a:solidFill>
            <a:srgbClr val="EBF1F6"/>
          </a:solidFill>
          <a:ln cap="flat" cmpd="sng" w="12700">
            <a:solidFill>
              <a:srgbClr val="EBF1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244E84"/>
                </a:solidFill>
                <a:latin typeface="Arial"/>
              </a:rPr>
              <a:t>Research takeaway: We utilize established open-source models, cryptographic standards (PKI), and blockchain networks to engineer a highly secure, court-admissible screening pipeline.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